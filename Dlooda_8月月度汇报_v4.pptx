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视频端：数量 vs 出单视频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7月2178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视频数</c:v>
                </c:pt>
                <c:pt idx="1">
                  <c:v>出单视频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267</c:v>
                </c:pt>
                <c:pt idx="1">
                  <c:v>94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8月2178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视频数</c:v>
                </c:pt>
                <c:pt idx="1">
                  <c:v>出单视频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255</c:v>
                </c:pt>
                <c:pt idx="1">
                  <c:v>70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7月2190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视频数</c:v>
                </c:pt>
                <c:pt idx="1">
                  <c:v>出单视频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211</c:v>
                </c:pt>
                <c:pt idx="1">
                  <c:v>61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8月2190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视频数</c:v>
                </c:pt>
                <c:pt idx="1">
                  <c:v>出单视频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217</c:v>
                </c:pt>
                <c:pt idx="1">
                  <c:v>60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000" b="1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8月2178达人结构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2178老</c:v>
                </c:pt>
                <c:pt idx="1">
                  <c:v>2178新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71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000" b="1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8月2190达人结构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2190老</c:v>
                </c:pt>
                <c:pt idx="1">
                  <c:v>2190新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54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视频端数量与出单视频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7月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视频数量</c:v>
                </c:pt>
                <c:pt idx="1">
                  <c:v>出单视频数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556</c:v>
                </c:pt>
                <c:pt idx="1">
                  <c:v>141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8月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视频数量</c:v>
                </c:pt>
                <c:pt idx="1">
                  <c:v>出单视频数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471</c:v>
                </c:pt>
                <c:pt idx="1">
                  <c:v>155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000" b="1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7月达人结构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7月老达人</c:v>
                </c:pt>
                <c:pt idx="1">
                  <c:v>7月新达人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</c:v>
                </c:pt>
                <c:pt idx="1">
                  <c:v>97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000" b="1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8月达人结构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8月老达人</c:v>
                </c:pt>
                <c:pt idx="1">
                  <c:v>8月新达人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</c:v>
                </c:pt>
                <c:pt idx="1">
                  <c:v>40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视频端数量与出单视频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7月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视频数量</c:v>
                </c:pt>
                <c:pt idx="1">
                  <c:v>出单视频数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138</c:v>
                </c:pt>
                <c:pt idx="1">
                  <c:v>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8月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视频数量</c:v>
                </c:pt>
                <c:pt idx="1">
                  <c:v>出单视频数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265</c:v>
                </c:pt>
                <c:pt idx="1">
                  <c:v>84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000" b="1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7月达人结构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7月老达人</c:v>
                </c:pt>
                <c:pt idx="1">
                  <c:v>7月新达人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67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000" b="1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8月达人结构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8月老达人</c:v>
                </c:pt>
                <c:pt idx="1">
                  <c:v>8月新达人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</c:v>
                </c:pt>
                <c:pt idx="1">
                  <c:v>83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视频端数量与出单视频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7月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视频数量</c:v>
                </c:pt>
                <c:pt idx="1">
                  <c:v>出单视频数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106</c:v>
                </c:pt>
                <c:pt idx="1">
                  <c:v>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8月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视频数量</c:v>
                </c:pt>
                <c:pt idx="1">
                  <c:v>出单视频数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162</c:v>
                </c:pt>
                <c:pt idx="1">
                  <c:v>58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000" b="1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7月达人结构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7月老达人</c:v>
                </c:pt>
                <c:pt idx="1">
                  <c:v>7月新达人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32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000" b="1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8月达人结构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8月老达人</c:v>
                </c:pt>
                <c:pt idx="1">
                  <c:v>8月新达人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37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视频端数量与出单视频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7月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视频数量</c:v>
                </c:pt>
                <c:pt idx="1">
                  <c:v>出单视频数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</c:v>
                </c:pt>
                <c:pt idx="1">
                  <c:v>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8月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视频数量</c:v>
                </c:pt>
                <c:pt idx="1">
                  <c:v>出单视频数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61</c:v>
                </c:pt>
                <c:pt idx="1">
                  <c:v>13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000" b="1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7月达人结构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7月老达人</c:v>
                </c:pt>
                <c:pt idx="1">
                  <c:v>7月新达人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54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000" b="1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8月达人结构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8月老达人</c:v>
                </c:pt>
                <c:pt idx="1">
                  <c:v>8月新达人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32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2757 vs 2722 爆款对比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2757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达人出单率</c:v>
                </c:pt>
                <c:pt idx="1">
                  <c:v>视频出单率</c:v>
                </c:pt>
                <c:pt idx="2">
                  <c:v>履约率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22.86</c:v>
                </c:pt>
                <c:pt idx="1">
                  <c:v>25.64</c:v>
                </c:pt>
                <c:pt idx="2">
                  <c:v>82.86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2722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达人出单率</c:v>
                </c:pt>
                <c:pt idx="1">
                  <c:v>视频出单率</c:v>
                </c:pt>
                <c:pt idx="2">
                  <c:v>履约率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26.669999999999998</c:v>
                </c:pt>
                <c:pt idx="1">
                  <c:v>32.910000000000004</c:v>
                </c:pt>
                <c:pt idx="2">
                  <c:v>82.22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000" b="1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2757达人结构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老达人</c:v>
                </c:pt>
                <c:pt idx="1">
                  <c:v>新达人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22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rPr sz="1000" b="1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订单来源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自然单</c:v>
                </c:pt>
                <c:pt idx="1">
                  <c:v>非自然单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</c:v>
                </c:pt>
                <c:pt idx="1">
                  <c:v>22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综合效率分排名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综合效率分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2722</c:v>
                </c:pt>
                <c:pt idx="1">
                  <c:v>2190</c:v>
                </c:pt>
                <c:pt idx="2">
                  <c:v>28173</c:v>
                </c:pt>
                <c:pt idx="3">
                  <c:v>2189</c:v>
                </c:pt>
                <c:pt idx="4">
                  <c:v>2789</c:v>
                </c:pt>
                <c:pt idx="5">
                  <c:v>2178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67</c:v>
                </c:pt>
                <c:pt idx="1">
                  <c:v>43</c:v>
                </c:pt>
                <c:pt idx="2">
                  <c:v>18</c:v>
                </c:pt>
                <c:pt idx="3">
                  <c:v>-22</c:v>
                </c:pt>
                <c:pt idx="4">
                  <c:v>-51</c:v>
                </c:pt>
                <c:pt idx="5">
                  <c:v>-56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000" b="1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各 SKU 复投成功率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成功率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2178</c:v>
                </c:pt>
                <c:pt idx="1">
                  <c:v>2190</c:v>
                </c:pt>
                <c:pt idx="2">
                  <c:v>2722</c:v>
                </c:pt>
                <c:pt idx="3">
                  <c:v>2189</c:v>
                </c:pt>
                <c:pt idx="4">
                  <c:v>28173</c:v>
                </c:pt>
                <c:pt idx="5">
                  <c:v>2789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8</c:v>
                </c:pt>
                <c:pt idx="2">
                  <c:v>0</c:v>
                </c:pt>
                <c:pt idx="3">
                  <c:v>4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chart" Target="../charts/chart5.xml"/><Relationship Id="rId4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chart" Target="../charts/chart8.xml"/><Relationship Id="rId4" Type="http://schemas.openxmlformats.org/officeDocument/2006/relationships/chart" Target="../charts/chart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Relationship Id="rId3" Type="http://schemas.openxmlformats.org/officeDocument/2006/relationships/chart" Target="../charts/chart14.xml"/><Relationship Id="rId4" Type="http://schemas.openxmlformats.org/officeDocument/2006/relationships/chart" Target="../charts/chart1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Relationship Id="rId3" Type="http://schemas.openxmlformats.org/officeDocument/2006/relationships/chart" Target="../charts/chart17.xml"/><Relationship Id="rId4" Type="http://schemas.openxmlformats.org/officeDocument/2006/relationships/chart" Target="../charts/chart1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>
              <a:gd name="adj" fmla="val 0"/>
            </a:avLst>
          </a:prstGeom>
          <a:solidFill>
            <a:srgbClr val="C94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2608" y="182880"/>
            <a:ext cx="86410" cy="63367"/>
          </a:xfrm>
          <a:prstGeom prst="ellipse">
            <a:avLst/>
          </a:prstGeom>
          <a:solidFill>
            <a:srgbClr val="FC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55975" y="182880"/>
            <a:ext cx="86410" cy="63367"/>
          </a:xfrm>
          <a:prstGeom prst="ellipse">
            <a:avLst/>
          </a:prstGeom>
          <a:solidFill>
            <a:srgbClr val="FC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55975" y="191521"/>
            <a:ext cx="37444" cy="46085"/>
          </a:xfrm>
          <a:prstGeom prst="ellipse">
            <a:avLst/>
          </a:prstGeom>
          <a:solidFill>
            <a:srgbClr val="F5A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73152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Dlooda 8月月度汇报</a:t>
            </a:r>
          </a:p>
          <a:p>
            <a:r>
              <a:rPr sz="1100" b="0" i="0">
                <a:solidFill>
                  <a:srgbClr val="FCEAF1"/>
                </a:solidFill>
                <a:latin typeface="Microsoft YaHei"/>
                <a:ea typeface="Microsoft YaHei"/>
                <a:cs typeface="Microsoft YaHei"/>
              </a:rPr>
              <a:t>汇报周期：2026.07.15 — 2026.08.15  |  汇报人：余慧玲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10698480" cy="5212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5A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28800"/>
            <a:ext cx="9966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核心结论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743200"/>
            <a:ext cx="2468880" cy="1371600"/>
          </a:xfrm>
          <a:prstGeom prst="roundRect">
            <a:avLst>
              <a:gd name="adj" fmla="val 12000"/>
            </a:avLst>
          </a:prstGeom>
          <a:solidFill>
            <a:srgbClr val="FCEAF1"/>
          </a:solidFill>
          <a:ln w="9525">
            <a:solidFill>
              <a:srgbClr val="F5A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39" y="283464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寄样量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39" y="315468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329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39" y="361188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4CAF50"/>
                </a:solidFill>
                <a:latin typeface="Microsoft YaHei"/>
                <a:ea typeface="Microsoft YaHei"/>
                <a:cs typeface="Microsoft YaHei"/>
              </a:rPr>
              <a:t>↑ 6 vs 7月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0" y="2743200"/>
            <a:ext cx="2468880" cy="1371600"/>
          </a:xfrm>
          <a:prstGeom prst="roundRect">
            <a:avLst>
              <a:gd name="adj" fmla="val 12000"/>
            </a:avLst>
          </a:prstGeom>
          <a:solidFill>
            <a:srgbClr val="FCEAF1"/>
          </a:solidFill>
          <a:ln w="9525">
            <a:solidFill>
              <a:srgbClr val="F5A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77640" y="283464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履约率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40" y="315468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82.5%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40" y="361188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E54C4C"/>
                </a:solidFill>
                <a:latin typeface="Microsoft YaHei"/>
                <a:ea typeface="Microsoft YaHei"/>
                <a:cs typeface="Microsoft YaHei"/>
              </a:rPr>
              <a:t>▼ 4.0pp vs 7月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2743200"/>
            <a:ext cx="2468880" cy="1371600"/>
          </a:xfrm>
          <a:prstGeom prst="roundRect">
            <a:avLst>
              <a:gd name="adj" fmla="val 12000"/>
            </a:avLst>
          </a:prstGeom>
          <a:solidFill>
            <a:srgbClr val="FCEAF1"/>
          </a:solidFill>
          <a:ln w="9525">
            <a:solidFill>
              <a:srgbClr val="F5A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283464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月度总订单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315468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6,670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361188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4CAF50"/>
                </a:solidFill>
                <a:latin typeface="Microsoft YaHei"/>
                <a:ea typeface="Microsoft YaHei"/>
                <a:cs typeface="Microsoft YaHei"/>
              </a:rPr>
              <a:t>↑ 1,960 vs 7月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2743200"/>
            <a:ext cx="2468880" cy="1371600"/>
          </a:xfrm>
          <a:prstGeom prst="roundRect">
            <a:avLst>
              <a:gd name="adj" fmla="val 12000"/>
            </a:avLst>
          </a:prstGeom>
          <a:solidFill>
            <a:srgbClr val="FCEAF1"/>
          </a:solidFill>
          <a:ln w="9525">
            <a:solidFill>
              <a:srgbClr val="F5A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64040" y="2834640"/>
            <a:ext cx="2194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有效达人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3154680"/>
            <a:ext cx="2194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66人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4040" y="361188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— 6常卖SKU合计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4480560"/>
            <a:ext cx="99669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增长主要来自 2178/2190/2722/28173/2189 五款，6 常卖 SKU 合计贡献 +1,960 件；但达人出单率普遍下滑，说明寄样量扩大伴随质量稀释，8 月核心课题是“优寄少寄、提质减量”。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14455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>
              <a:gd name="adj" fmla="val 0"/>
            </a:avLst>
          </a:prstGeom>
          <a:solidFill>
            <a:srgbClr val="C94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2608" y="182880"/>
            <a:ext cx="86410" cy="63367"/>
          </a:xfrm>
          <a:prstGeom prst="ellipse">
            <a:avLst/>
          </a:prstGeom>
          <a:solidFill>
            <a:srgbClr val="FC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55975" y="182880"/>
            <a:ext cx="86410" cy="63367"/>
          </a:xfrm>
          <a:prstGeom prst="ellipse">
            <a:avLst/>
          </a:prstGeom>
          <a:solidFill>
            <a:srgbClr val="FC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55975" y="191521"/>
            <a:ext cx="37444" cy="46085"/>
          </a:xfrm>
          <a:prstGeom prst="ellipse">
            <a:avLst/>
          </a:prstGeom>
          <a:solidFill>
            <a:srgbClr val="F5A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73152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店铺数据总览</a:t>
            </a:r>
          </a:p>
          <a:p>
            <a:r>
              <a:rPr sz="1100" b="0" i="0">
                <a:solidFill>
                  <a:srgbClr val="FCEAF1"/>
                </a:solidFill>
                <a:latin typeface="Microsoft YaHei"/>
                <a:ea typeface="Microsoft YaHei"/>
                <a:cs typeface="Microsoft YaHei"/>
              </a:rPr>
              <a:t>核心 4 项 + 一页结论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9144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FCEAF1"/>
                </a:solidFill>
                <a:latin typeface="Microsoft YaHei"/>
                <a:ea typeface="Microsoft YaHei"/>
                <a:cs typeface="Microsoft YaHei"/>
              </a:rPr>
              <a:t>Part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0" b="1" i="0">
                <a:solidFill>
                  <a:srgbClr val="F5A0B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店铺数据总览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14455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>
              <a:gd name="adj" fmla="val 0"/>
            </a:avLst>
          </a:prstGeom>
          <a:solidFill>
            <a:srgbClr val="C94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2608" y="182880"/>
            <a:ext cx="86410" cy="63367"/>
          </a:xfrm>
          <a:prstGeom prst="ellipse">
            <a:avLst/>
          </a:prstGeom>
          <a:solidFill>
            <a:srgbClr val="FC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55975" y="182880"/>
            <a:ext cx="86410" cy="63367"/>
          </a:xfrm>
          <a:prstGeom prst="ellipse">
            <a:avLst/>
          </a:prstGeom>
          <a:solidFill>
            <a:srgbClr val="FC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55975" y="191521"/>
            <a:ext cx="37444" cy="46085"/>
          </a:xfrm>
          <a:prstGeom prst="ellipse">
            <a:avLst/>
          </a:prstGeom>
          <a:solidFill>
            <a:srgbClr val="F5A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73152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店铺数据总览 · 核心 4 项</a:t>
            </a:r>
          </a:p>
          <a:p>
            <a:r>
              <a:rPr sz="1100" b="0" i="0">
                <a:solidFill>
                  <a:srgbClr val="FCEAF1"/>
                </a:solidFill>
                <a:latin typeface="Microsoft YaHei"/>
                <a:ea typeface="Microsoft YaHei"/>
                <a:cs typeface="Microsoft YaHei"/>
              </a:rPr>
              <a:t>剔除撤退款，6 个常卖 SKU 口径统一为 15 日-15 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97280"/>
            <a:ext cx="265176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5A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114300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寄样量（7月→8月）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137160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323 → 329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173736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4CAF50"/>
                </a:solidFill>
                <a:latin typeface="Microsoft YaHei"/>
                <a:ea typeface="Microsoft YaHei"/>
                <a:cs typeface="Microsoft YaHei"/>
              </a:rPr>
              <a:t>↑ 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1097280"/>
            <a:ext cx="265176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5A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79" y="114300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履约率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79" y="137160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86.5% → 82.5%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79" y="173736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E54C4C"/>
                </a:solidFill>
                <a:latin typeface="Microsoft YaHei"/>
                <a:ea typeface="Microsoft YaHei"/>
                <a:cs typeface="Microsoft YaHei"/>
              </a:rPr>
              <a:t>▼ 4.0pp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097280"/>
            <a:ext cx="265176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5A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14300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月度总订单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37160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4,710 → 6,670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73736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4CAF50"/>
                </a:solidFill>
                <a:latin typeface="Microsoft YaHei"/>
                <a:ea typeface="Microsoft YaHei"/>
                <a:cs typeface="Microsoft YaHei"/>
              </a:rPr>
              <a:t>↑ 1,960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59" y="1097280"/>
            <a:ext cx="2651760" cy="1051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5A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599" y="114300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有效达人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599" y="1371600"/>
            <a:ext cx="2468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66人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599" y="1737360"/>
            <a:ext cx="2468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—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40080" y="2331720"/>
          <a:ext cx="8686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914400"/>
                <a:gridCol w="1097280"/>
                <a:gridCol w="1097280"/>
                <a:gridCol w="914400"/>
                <a:gridCol w="1280160"/>
                <a:gridCol w="1280160"/>
                <a:gridCol w="1280160"/>
              </a:tblGrid>
              <a:tr h="313508"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SKU</a:t>
                      </a:r>
                    </a:p>
                  </a:txBody>
                  <a:tcPr anchor="ctr">
                    <a:solidFill>
                      <a:srgbClr val="FCD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</a:t>
                      </a:r>
                    </a:p>
                  </a:txBody>
                  <a:tcPr anchor="ctr">
                    <a:solidFill>
                      <a:srgbClr val="FCD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7月订单</a:t>
                      </a:r>
                    </a:p>
                  </a:txBody>
                  <a:tcPr anchor="ctr">
                    <a:solidFill>
                      <a:srgbClr val="FCD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8月订单</a:t>
                      </a:r>
                    </a:p>
                  </a:txBody>
                  <a:tcPr anchor="ctr">
                    <a:solidFill>
                      <a:srgbClr val="FCD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变化</a:t>
                      </a:r>
                    </a:p>
                  </a:txBody>
                  <a:tcPr anchor="ctr">
                    <a:solidFill>
                      <a:srgbClr val="FCD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7月出单率</a:t>
                      </a:r>
                    </a:p>
                  </a:txBody>
                  <a:tcPr anchor="ctr">
                    <a:solidFill>
                      <a:srgbClr val="FCD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8月出单率</a:t>
                      </a:r>
                    </a:p>
                  </a:txBody>
                  <a:tcPr anchor="ctr">
                    <a:solidFill>
                      <a:srgbClr val="FCD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变化</a:t>
                      </a:r>
                    </a:p>
                  </a:txBody>
                  <a:tcPr anchor="ctr">
                    <a:solidFill>
                      <a:srgbClr val="FCD5E3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爆品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-5.3pp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2190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爆品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1506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1776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270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18.5%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5.5%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-13.1pp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爆品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1509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1640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+5.7pp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2189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销售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148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681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533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42.4%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21.1%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-21.4pp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</a:tr>
              <a:tr h="313508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28173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销售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+2.9pp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3512"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2789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销售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-51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22.6%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21.9%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-0.8pp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</a:tr>
            </a:tbl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640080" y="4709160"/>
            <a:ext cx="10972800" cy="1280160"/>
          </a:xfrm>
          <a:prstGeom prst="roundRect">
            <a:avLst>
              <a:gd name="adj" fmla="val 12000"/>
            </a:avLst>
          </a:prstGeom>
          <a:solidFill>
            <a:srgbClr val="FCEAF1"/>
          </a:solidFill>
          <a:ln w="9525">
            <a:solidFill>
              <a:srgbClr val="C94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80060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一页结论</a:t>
            </a:r>
          </a:p>
          <a:p>
            <a:pPr algn="l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· 增长来源：2178(+479)、2190(+270)、2722(+131)、28173(+519)、2189(+533) 五款共同拉动，合计 +1,932；</a:t>
            </a:r>
          </a:p>
          <a:p>
            <a:pPr algn="l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· 关键问题：8 月寄样量扩大的同时，达人出单率普遍下滑（2178 -5.4pp、2190 -13.3pp、2189 -25.4pp），说明新达人质量被稀释；</a:t>
            </a:r>
          </a:p>
          <a:p>
            <a:pPr algn="l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· 8月主题：从“放量寄样”转向“优寄少寄”，优先已验证有带货能力的达人。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14455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>
              <a:gd name="adj" fmla="val 0"/>
            </a:avLst>
          </a:prstGeom>
          <a:solidFill>
            <a:srgbClr val="C94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2608" y="182880"/>
            <a:ext cx="86410" cy="63367"/>
          </a:xfrm>
          <a:prstGeom prst="ellipse">
            <a:avLst/>
          </a:prstGeom>
          <a:solidFill>
            <a:srgbClr val="FC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55975" y="182880"/>
            <a:ext cx="86410" cy="63367"/>
          </a:xfrm>
          <a:prstGeom prst="ellipse">
            <a:avLst/>
          </a:prstGeom>
          <a:solidFill>
            <a:srgbClr val="FC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55975" y="191521"/>
            <a:ext cx="37444" cy="46085"/>
          </a:xfrm>
          <a:prstGeom prst="ellipse">
            <a:avLst/>
          </a:prstGeom>
          <a:solidFill>
            <a:srgbClr val="F5A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73152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各款 SKU 分析</a:t>
            </a:r>
          </a:p>
          <a:p>
            <a:r>
              <a:rPr sz="1100" b="0" i="0">
                <a:solidFill>
                  <a:srgbClr val="FCEAF1"/>
                </a:solidFill>
                <a:latin typeface="Microsoft YaHei"/>
                <a:ea typeface="Microsoft YaHei"/>
                <a:cs typeface="Microsoft YaHei"/>
              </a:rPr>
              <a:t>从视频端、达人质量、履约率找原因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9144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FCEAF1"/>
                </a:solidFill>
                <a:latin typeface="Microsoft YaHei"/>
                <a:ea typeface="Microsoft YaHei"/>
                <a:cs typeface="Microsoft YaHei"/>
              </a:rPr>
              <a:t>Part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0" b="1" i="0">
                <a:solidFill>
                  <a:srgbClr val="F5A0B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各款 SKU 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14455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>
              <a:gd name="adj" fmla="val 0"/>
            </a:avLst>
          </a:prstGeom>
          <a:solidFill>
            <a:srgbClr val="C94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2608" y="182880"/>
            <a:ext cx="86410" cy="63367"/>
          </a:xfrm>
          <a:prstGeom prst="ellipse">
            <a:avLst/>
          </a:prstGeom>
          <a:solidFill>
            <a:srgbClr val="FC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55975" y="182880"/>
            <a:ext cx="86410" cy="63367"/>
          </a:xfrm>
          <a:prstGeom prst="ellipse">
            <a:avLst/>
          </a:prstGeom>
          <a:solidFill>
            <a:srgbClr val="FC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55975" y="191521"/>
            <a:ext cx="37444" cy="46085"/>
          </a:xfrm>
          <a:prstGeom prst="ellipse">
            <a:avLst/>
          </a:prstGeom>
          <a:solidFill>
            <a:srgbClr val="F5A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73152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SKU 2178 + 2190 合并分析</a:t>
            </a:r>
          </a:p>
          <a:p>
            <a:r>
              <a:rPr sz="1100" b="0" i="0">
                <a:solidFill>
                  <a:srgbClr val="FCEAF1"/>
                </a:solidFill>
                <a:latin typeface="Microsoft YaHei"/>
                <a:ea typeface="Microsoft YaHei"/>
                <a:cs typeface="Microsoft YaHei"/>
              </a:rPr>
              <a:t>爆款 Work Pants：新达人稀释，需优寄少寄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51560"/>
            <a:ext cx="27889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5A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97280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2178 达人出单率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25880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12.1% → 6.9%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45920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E54C4C"/>
                </a:solidFill>
                <a:latin typeface="Microsoft YaHei"/>
                <a:ea typeface="Microsoft YaHei"/>
                <a:cs typeface="Microsoft YaHei"/>
              </a:rPr>
              <a:t>-5.3pp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40" y="1051560"/>
            <a:ext cx="27889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5A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097280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2190 达人出单率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325880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18.5% → 5.5%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1645920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E54C4C"/>
                </a:solidFill>
                <a:latin typeface="Microsoft YaHei"/>
                <a:ea typeface="Microsoft YaHei"/>
                <a:cs typeface="Microsoft YaHei"/>
              </a:rPr>
              <a:t>-13.1pp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051560"/>
            <a:ext cx="27889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5A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097280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2178 视频出单率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325880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35.2% → 27.5%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645920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E54C4C"/>
                </a:solidFill>
                <a:latin typeface="Microsoft YaHei"/>
                <a:ea typeface="Microsoft YaHei"/>
                <a:cs typeface="Microsoft YaHei"/>
              </a:rPr>
              <a:t>-7.8pp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60" y="1051560"/>
            <a:ext cx="27889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5A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097280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2190 视频出单率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1325880"/>
            <a:ext cx="2697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28.9% → 27.6%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1645920"/>
            <a:ext cx="2697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E54C4C"/>
                </a:solidFill>
                <a:latin typeface="Microsoft YaHei"/>
                <a:ea typeface="Microsoft YaHei"/>
                <a:cs typeface="Microsoft YaHei"/>
              </a:rPr>
              <a:t>-1.3pp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2148840"/>
            <a:ext cx="4572000" cy="2926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5A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2286000"/>
            <a:ext cx="429768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关键发现</a:t>
            </a:r>
          </a:p>
          <a:p>
            <a:pPr algn="l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· 达人出单率大幅下滑，视频出单率尚可 → 出单集中在老达人，新达人转化极差；</a:t>
            </a:r>
          </a:p>
          <a:p>
            <a:pPr algn="l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· 2178 寄样 33→73(+40), 视频 267→255(-12)，履约率 84.9%→76.7%；</a:t>
            </a:r>
          </a:p>
          <a:p>
            <a:pPr algn="l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· 2178 老/新达人：7月 0/39，8月 2/71；2190：7月 0/28，8月 0/54；</a:t>
            </a:r>
          </a:p>
          <a:p>
            <a:pPr algn="l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· 8月 L0-1/L2 占比上升，核心/高星达人占比下降，结构降级。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5486400" y="2148840"/>
          <a:ext cx="274320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8503920" y="2148840"/>
          <a:ext cx="3108960" cy="1371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8503920" y="3703320"/>
          <a:ext cx="3108960" cy="1371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640080" y="5257800"/>
            <a:ext cx="10972800" cy="1005840"/>
          </a:xfrm>
          <a:prstGeom prst="roundRect">
            <a:avLst>
              <a:gd name="adj" fmla="val 12000"/>
            </a:avLst>
          </a:prstGeom>
          <a:solidFill>
            <a:srgbClr val="FCEAF1"/>
          </a:solidFill>
          <a:ln w="9525">
            <a:solidFill>
              <a:srgbClr val="C94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34924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落点策略</a:t>
            </a:r>
          </a:p>
          <a:p>
            <a:pPr algn="l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优寄少寄：暂停大规模新达人铺量，优先 L3+/4★+/核心达人及历史已出单老达人复投；严控履约，确保寄样必出视频。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14455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>
              <a:gd name="adj" fmla="val 0"/>
            </a:avLst>
          </a:prstGeom>
          <a:solidFill>
            <a:srgbClr val="C94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2608" y="182880"/>
            <a:ext cx="86410" cy="63367"/>
          </a:xfrm>
          <a:prstGeom prst="ellipse">
            <a:avLst/>
          </a:prstGeom>
          <a:solidFill>
            <a:srgbClr val="FC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55975" y="182880"/>
            <a:ext cx="86410" cy="63367"/>
          </a:xfrm>
          <a:prstGeom prst="ellipse">
            <a:avLst/>
          </a:prstGeom>
          <a:solidFill>
            <a:srgbClr val="FC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55975" y="191521"/>
            <a:ext cx="37444" cy="46085"/>
          </a:xfrm>
          <a:prstGeom prst="ellipse">
            <a:avLst/>
          </a:prstGeom>
          <a:solidFill>
            <a:srgbClr val="F5A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73152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SKU 2722 夏季爆款 · 减量收尾</a:t>
            </a:r>
          </a:p>
          <a:p>
            <a:r>
              <a:rPr sz="1100" b="0" i="0">
                <a:solidFill>
                  <a:srgbClr val="FCEAF1"/>
                </a:solidFill>
                <a:latin typeface="Microsoft YaHei"/>
                <a:ea typeface="Microsoft YaHei"/>
                <a:cs typeface="Microsoft YaHei"/>
              </a:rPr>
              <a:t>淡粉=7月，深粉=8月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5156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5A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9728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寄样量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2588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105</a:t>
            </a:r>
          </a:p>
          <a:p>
            <a:pPr algn="ctr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 → </a:t>
            </a:r>
          </a:p>
          <a:p>
            <a:pPr algn="ctr"/>
            <a:r>
              <a:rPr sz="13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4592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E54C4C"/>
                </a:solidFill>
                <a:latin typeface="Microsoft YaHei"/>
                <a:ea typeface="Microsoft YaHei"/>
                <a:cs typeface="Microsoft YaHei"/>
              </a:rPr>
              <a:t>-60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105156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5A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59" y="109728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履约率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59" y="132588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80.0%</a:t>
            </a:r>
          </a:p>
          <a:p>
            <a:pPr algn="ctr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 → </a:t>
            </a:r>
          </a:p>
          <a:p>
            <a:pPr algn="ctr"/>
            <a:r>
              <a:rPr sz="13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82.2%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59" y="164592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4CAF50"/>
                </a:solidFill>
                <a:latin typeface="Microsoft YaHei"/>
                <a:ea typeface="Microsoft YaHei"/>
                <a:cs typeface="Microsoft YaHei"/>
              </a:rPr>
              <a:t>+2.2pp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05156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5A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09728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达人出单率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32588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20.9%</a:t>
            </a:r>
          </a:p>
          <a:p>
            <a:pPr algn="ctr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 → </a:t>
            </a:r>
          </a:p>
          <a:p>
            <a:pPr algn="ctr"/>
            <a:r>
              <a:rPr sz="13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26.7%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64592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4CAF50"/>
                </a:solidFill>
                <a:latin typeface="Microsoft YaHei"/>
                <a:ea typeface="Microsoft YaHei"/>
                <a:cs typeface="Microsoft YaHei"/>
              </a:rPr>
              <a:t>+5.7pp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59" y="105156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5A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09728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视频出单率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132588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25.4%</a:t>
            </a:r>
          </a:p>
          <a:p>
            <a:pPr algn="ctr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 → </a:t>
            </a:r>
          </a:p>
          <a:p>
            <a:pPr algn="ctr"/>
            <a:r>
              <a:rPr sz="13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32.9%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164592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4CAF50"/>
                </a:solidFill>
                <a:latin typeface="Microsoft YaHei"/>
                <a:ea typeface="Microsoft YaHei"/>
                <a:cs typeface="Microsoft YaHei"/>
              </a:rPr>
              <a:t>+7.6pp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2148840"/>
            <a:ext cx="4572000" cy="2926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5A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2286000"/>
            <a:ext cx="429768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关键发现</a:t>
            </a:r>
          </a:p>
          <a:p>
            <a:pPr algn="l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· 达人出单率 20.95%→26.67%↑，视频出单率 25.36%→32.91%↑，双率同步提升；</a:t>
            </a:r>
          </a:p>
          <a:p>
            <a:pPr algn="l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· 说明上月“缩小寄样、提高达人质量”策略有效；</a:t>
            </a:r>
          </a:p>
          <a:p>
            <a:pPr algn="l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· 但 2722 是夏季短裙，季节窗口收窄，8月后应逐步停寄。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5486400" y="2148840"/>
          <a:ext cx="274320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8503920" y="2148840"/>
          <a:ext cx="3108960" cy="1371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8503920" y="3703320"/>
          <a:ext cx="3108960" cy="1371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640080" y="5257800"/>
            <a:ext cx="10972800" cy="1005840"/>
          </a:xfrm>
          <a:prstGeom prst="roundRect">
            <a:avLst>
              <a:gd name="adj" fmla="val 12000"/>
            </a:avLst>
          </a:prstGeom>
          <a:solidFill>
            <a:srgbClr val="FCEAF1"/>
          </a:solidFill>
          <a:ln w="9525">
            <a:solidFill>
              <a:srgbClr val="C94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34924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落点策略</a:t>
            </a:r>
          </a:p>
          <a:p>
            <a:pPr algn="l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暂停寄样，资源转向秋冬长裤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14455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>
              <a:gd name="adj" fmla="val 0"/>
            </a:avLst>
          </a:prstGeom>
          <a:solidFill>
            <a:srgbClr val="C94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2608" y="182880"/>
            <a:ext cx="86410" cy="63367"/>
          </a:xfrm>
          <a:prstGeom prst="ellipse">
            <a:avLst/>
          </a:prstGeom>
          <a:solidFill>
            <a:srgbClr val="FC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55975" y="182880"/>
            <a:ext cx="86410" cy="63367"/>
          </a:xfrm>
          <a:prstGeom prst="ellipse">
            <a:avLst/>
          </a:prstGeom>
          <a:solidFill>
            <a:srgbClr val="FC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55975" y="191521"/>
            <a:ext cx="37444" cy="46085"/>
          </a:xfrm>
          <a:prstGeom prst="ellipse">
            <a:avLst/>
          </a:prstGeom>
          <a:solidFill>
            <a:srgbClr val="F5A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73152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SKU 28173 销售款黑马 · 效率跃升</a:t>
            </a:r>
          </a:p>
          <a:p>
            <a:r>
              <a:rPr sz="1100" b="0" i="0">
                <a:solidFill>
                  <a:srgbClr val="FCEAF1"/>
                </a:solidFill>
                <a:latin typeface="Microsoft YaHei"/>
                <a:ea typeface="Microsoft YaHei"/>
                <a:cs typeface="Microsoft YaHei"/>
              </a:rPr>
              <a:t>淡粉=7月，深粉=8月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5156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5A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9728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寄样量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2588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67</a:t>
            </a:r>
          </a:p>
          <a:p>
            <a:pPr algn="ctr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 → </a:t>
            </a:r>
          </a:p>
          <a:p>
            <a:pPr algn="ctr"/>
            <a:r>
              <a:rPr sz="13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4592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4CAF50"/>
                </a:solidFill>
                <a:latin typeface="Microsoft YaHei"/>
                <a:ea typeface="Microsoft YaHei"/>
                <a:cs typeface="Microsoft YaHei"/>
              </a:rPr>
              <a:t>+19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105156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5A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59" y="109728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履约率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59" y="132588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88.1%</a:t>
            </a:r>
          </a:p>
          <a:p>
            <a:pPr algn="ctr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 → </a:t>
            </a:r>
          </a:p>
          <a:p>
            <a:pPr algn="ctr"/>
            <a:r>
              <a:rPr sz="13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90.7%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59" y="164592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4CAF50"/>
                </a:solidFill>
                <a:latin typeface="Microsoft YaHei"/>
                <a:ea typeface="Microsoft YaHei"/>
                <a:cs typeface="Microsoft YaHei"/>
              </a:rPr>
              <a:t>+2.6pp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05156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5A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09728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达人出单率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32588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23.9%</a:t>
            </a:r>
          </a:p>
          <a:p>
            <a:pPr algn="ctr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 → </a:t>
            </a:r>
          </a:p>
          <a:p>
            <a:pPr algn="ctr"/>
            <a:r>
              <a:rPr sz="13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26.7%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64592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4CAF50"/>
                </a:solidFill>
                <a:latin typeface="Microsoft YaHei"/>
                <a:ea typeface="Microsoft YaHei"/>
                <a:cs typeface="Microsoft YaHei"/>
              </a:rPr>
              <a:t>+2.9pp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59" y="105156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5A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09728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视频出单率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132588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23.9%</a:t>
            </a:r>
          </a:p>
          <a:p>
            <a:pPr algn="ctr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 → </a:t>
            </a:r>
          </a:p>
          <a:p>
            <a:pPr algn="ctr"/>
            <a:r>
              <a:rPr sz="13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31.7%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164592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4CAF50"/>
                </a:solidFill>
                <a:latin typeface="Microsoft YaHei"/>
                <a:ea typeface="Microsoft YaHei"/>
                <a:cs typeface="Microsoft YaHei"/>
              </a:rPr>
              <a:t>+7.8pp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2148840"/>
            <a:ext cx="4572000" cy="2926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5A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2286000"/>
            <a:ext cx="429768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关键发现</a:t>
            </a:r>
          </a:p>
          <a:p>
            <a:pPr algn="l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· 寄样 67→86(+19)，履约率、达人出单率、视频出单率三升；</a:t>
            </a:r>
          </a:p>
          <a:p>
            <a:pPr algn="l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· 出单视频 33→84(+51)，说明内容自然承接能力增强；</a:t>
            </a:r>
          </a:p>
          <a:p>
            <a:pPr algn="l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· 老达人占比和等级结构稳定，质量未稀释。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5486400" y="2148840"/>
          <a:ext cx="274320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8503920" y="2148840"/>
          <a:ext cx="3108960" cy="1371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8503920" y="3703320"/>
          <a:ext cx="3108960" cy="1371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640080" y="5257800"/>
            <a:ext cx="10972800" cy="1005840"/>
          </a:xfrm>
          <a:prstGeom prst="roundRect">
            <a:avLst>
              <a:gd name="adj" fmla="val 12000"/>
            </a:avLst>
          </a:prstGeom>
          <a:solidFill>
            <a:srgbClr val="FCEAF1"/>
          </a:solidFill>
          <a:ln w="9525">
            <a:solidFill>
              <a:srgbClr val="C94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34924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落点策略</a:t>
            </a:r>
          </a:p>
          <a:p>
            <a:pPr algn="l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保持节奏，继续放大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14455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>
              <a:gd name="adj" fmla="val 0"/>
            </a:avLst>
          </a:prstGeom>
          <a:solidFill>
            <a:srgbClr val="C94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2608" y="182880"/>
            <a:ext cx="86410" cy="63367"/>
          </a:xfrm>
          <a:prstGeom prst="ellipse">
            <a:avLst/>
          </a:prstGeom>
          <a:solidFill>
            <a:srgbClr val="FC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55975" y="182880"/>
            <a:ext cx="86410" cy="63367"/>
          </a:xfrm>
          <a:prstGeom prst="ellipse">
            <a:avLst/>
          </a:prstGeom>
          <a:solidFill>
            <a:srgbClr val="FC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55975" y="191521"/>
            <a:ext cx="37444" cy="46085"/>
          </a:xfrm>
          <a:prstGeom prst="ellipse">
            <a:avLst/>
          </a:prstGeom>
          <a:solidFill>
            <a:srgbClr val="F5A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73152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SKU 2189 销售款潜力 · 老达人流失</a:t>
            </a:r>
          </a:p>
          <a:p>
            <a:r>
              <a:rPr sz="1100" b="0" i="0">
                <a:solidFill>
                  <a:srgbClr val="FCEAF1"/>
                </a:solidFill>
                <a:latin typeface="Microsoft YaHei"/>
                <a:ea typeface="Microsoft YaHei"/>
                <a:cs typeface="Microsoft YaHei"/>
              </a:rPr>
              <a:t>淡粉=7月，深粉=8月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5156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5A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9728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寄样量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2588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  <a:p>
            <a:pPr algn="ctr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 → </a:t>
            </a:r>
          </a:p>
          <a:p>
            <a:pPr algn="ctr"/>
            <a:r>
              <a:rPr sz="13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4592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4CAF50"/>
                </a:solidFill>
                <a:latin typeface="Microsoft YaHei"/>
                <a:ea typeface="Microsoft YaHei"/>
                <a:cs typeface="Microsoft YaHei"/>
              </a:rPr>
              <a:t>+5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105156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5A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59" y="109728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履约率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59" y="132588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87.9%</a:t>
            </a:r>
          </a:p>
          <a:p>
            <a:pPr algn="ctr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 → </a:t>
            </a:r>
          </a:p>
          <a:p>
            <a:pPr algn="ctr"/>
            <a:r>
              <a:rPr sz="13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92.1%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59" y="164592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4CAF50"/>
                </a:solidFill>
                <a:latin typeface="Microsoft YaHei"/>
                <a:ea typeface="Microsoft YaHei"/>
                <a:cs typeface="Microsoft YaHei"/>
              </a:rPr>
              <a:t>+4.2pp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05156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5A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09728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达人出单率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32588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42.4%</a:t>
            </a:r>
          </a:p>
          <a:p>
            <a:pPr algn="ctr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 → </a:t>
            </a:r>
          </a:p>
          <a:p>
            <a:pPr algn="ctr"/>
            <a:r>
              <a:rPr sz="13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21.1%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64592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E54C4C"/>
                </a:solidFill>
                <a:latin typeface="Microsoft YaHei"/>
                <a:ea typeface="Microsoft YaHei"/>
                <a:cs typeface="Microsoft YaHei"/>
              </a:rPr>
              <a:t>-21.4pp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59" y="105156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5A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09728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视频出单率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132588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37.7%</a:t>
            </a:r>
          </a:p>
          <a:p>
            <a:pPr algn="ctr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 → </a:t>
            </a:r>
          </a:p>
          <a:p>
            <a:pPr algn="ctr"/>
            <a:r>
              <a:rPr sz="13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35.8%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164592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E54C4C"/>
                </a:solidFill>
                <a:latin typeface="Microsoft YaHei"/>
                <a:ea typeface="Microsoft YaHei"/>
                <a:cs typeface="Microsoft YaHei"/>
              </a:rPr>
              <a:t>-1.9pp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2148840"/>
            <a:ext cx="4572000" cy="2926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5A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2286000"/>
            <a:ext cx="429768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关键发现</a:t>
            </a:r>
          </a:p>
          <a:p>
            <a:pPr algn="l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· 达人出单率 42.42%→21.05%↓，视频出单率稳定在 35.80%；</a:t>
            </a:r>
          </a:p>
          <a:p>
            <a:pPr algn="l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· 老达人（已出单复投）数量减少，新达人未补位；</a:t>
            </a:r>
          </a:p>
          <a:p>
            <a:pPr algn="l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· 复投数据显示老达人对 2189 兴趣下降，需补充新达人并强化复投。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5486400" y="2148840"/>
          <a:ext cx="274320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8503920" y="2148840"/>
          <a:ext cx="3108960" cy="1371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8503920" y="3703320"/>
          <a:ext cx="3108960" cy="1371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640080" y="5257800"/>
            <a:ext cx="10972800" cy="1005840"/>
          </a:xfrm>
          <a:prstGeom prst="roundRect">
            <a:avLst>
              <a:gd name="adj" fmla="val 12000"/>
            </a:avLst>
          </a:prstGeom>
          <a:solidFill>
            <a:srgbClr val="FCEAF1"/>
          </a:solidFill>
          <a:ln w="9525">
            <a:solidFill>
              <a:srgbClr val="C94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34924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落点策略</a:t>
            </a:r>
          </a:p>
          <a:p>
            <a:pPr algn="l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扩大达人池，激活历史带货老达人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14455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>
              <a:gd name="adj" fmla="val 0"/>
            </a:avLst>
          </a:prstGeom>
          <a:solidFill>
            <a:srgbClr val="C94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2608" y="182880"/>
            <a:ext cx="86410" cy="63367"/>
          </a:xfrm>
          <a:prstGeom prst="ellipse">
            <a:avLst/>
          </a:prstGeom>
          <a:solidFill>
            <a:srgbClr val="FC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55975" y="182880"/>
            <a:ext cx="86410" cy="63367"/>
          </a:xfrm>
          <a:prstGeom prst="ellipse">
            <a:avLst/>
          </a:prstGeom>
          <a:solidFill>
            <a:srgbClr val="FC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55975" y="191521"/>
            <a:ext cx="37444" cy="46085"/>
          </a:xfrm>
          <a:prstGeom prst="ellipse">
            <a:avLst/>
          </a:prstGeom>
          <a:solidFill>
            <a:srgbClr val="F5A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73152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SKU 2789 销售款下滑 · 需控量</a:t>
            </a:r>
          </a:p>
          <a:p>
            <a:r>
              <a:rPr sz="1100" b="0" i="0">
                <a:solidFill>
                  <a:srgbClr val="FCEAF1"/>
                </a:solidFill>
                <a:latin typeface="Microsoft YaHei"/>
                <a:ea typeface="Microsoft YaHei"/>
                <a:cs typeface="Microsoft YaHei"/>
              </a:rPr>
              <a:t>淡粉=7月，深粉=8月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5156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5A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9728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寄样量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2588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53</a:t>
            </a:r>
          </a:p>
          <a:p>
            <a:pPr algn="ctr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 → </a:t>
            </a:r>
          </a:p>
          <a:p>
            <a:pPr algn="ctr"/>
            <a:r>
              <a:rPr sz="13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4592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E54C4C"/>
                </a:solidFill>
                <a:latin typeface="Microsoft YaHei"/>
                <a:ea typeface="Microsoft YaHei"/>
                <a:cs typeface="Microsoft YaHei"/>
              </a:rPr>
              <a:t>-21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0439" y="105156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5A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59" y="109728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履约率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59" y="132588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84.9%</a:t>
            </a:r>
          </a:p>
          <a:p>
            <a:pPr algn="ctr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 → </a:t>
            </a:r>
          </a:p>
          <a:p>
            <a:pPr algn="ctr"/>
            <a:r>
              <a:rPr sz="13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71.9%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59" y="164592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E54C4C"/>
                </a:solidFill>
                <a:latin typeface="Microsoft YaHei"/>
                <a:ea typeface="Microsoft YaHei"/>
                <a:cs typeface="Microsoft YaHei"/>
              </a:rPr>
              <a:t>-13.0pp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05156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5A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09728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达人出单率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32588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22.6%</a:t>
            </a:r>
          </a:p>
          <a:p>
            <a:pPr algn="ctr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 → </a:t>
            </a:r>
          </a:p>
          <a:p>
            <a:pPr algn="ctr"/>
            <a:r>
              <a:rPr sz="13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21.9%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64592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E54C4C"/>
                </a:solidFill>
                <a:latin typeface="Microsoft YaHei"/>
                <a:ea typeface="Microsoft YaHei"/>
                <a:cs typeface="Microsoft YaHei"/>
              </a:rPr>
              <a:t>-0.8pp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81159" y="105156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5A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109728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视频出单率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1325880"/>
            <a:ext cx="2560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28.8%</a:t>
            </a:r>
          </a:p>
          <a:p>
            <a:pPr algn="ctr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 → </a:t>
            </a:r>
          </a:p>
          <a:p>
            <a:pPr algn="ctr"/>
            <a:r>
              <a:rPr sz="13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21.3%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1645920"/>
            <a:ext cx="25603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 i="0">
                <a:solidFill>
                  <a:srgbClr val="E54C4C"/>
                </a:solidFill>
                <a:latin typeface="Microsoft YaHei"/>
                <a:ea typeface="Microsoft YaHei"/>
                <a:cs typeface="Microsoft YaHei"/>
              </a:rPr>
              <a:t>-7.5pp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2148840"/>
            <a:ext cx="4572000" cy="2926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5A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2286000"/>
            <a:ext cx="429768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关键发现</a:t>
            </a:r>
          </a:p>
          <a:p>
            <a:pPr algn="l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· 达人出单率 22.64%→21.88% 基本稳定，但月度订单 88→37 腰斩；</a:t>
            </a:r>
          </a:p>
          <a:p>
            <a:pPr algn="l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· 视频出单率 28.81%→21.31%↓，头部出单达人减少；</a:t>
            </a:r>
          </a:p>
          <a:p>
            <a:pPr algn="l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· 通过率下降、自然单占比低，需严控寄样质量。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5486400" y="2148840"/>
          <a:ext cx="274320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8503920" y="2148840"/>
          <a:ext cx="3108960" cy="1371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8503920" y="3703320"/>
          <a:ext cx="3108960" cy="1371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8" name="Rounded Rectangle 27"/>
          <p:cNvSpPr/>
          <p:nvPr/>
        </p:nvSpPr>
        <p:spPr>
          <a:xfrm>
            <a:off x="640080" y="5257800"/>
            <a:ext cx="10972800" cy="1005840"/>
          </a:xfrm>
          <a:prstGeom prst="roundRect">
            <a:avLst>
              <a:gd name="adj" fmla="val 12000"/>
            </a:avLst>
          </a:prstGeom>
          <a:solidFill>
            <a:srgbClr val="FCEAF1"/>
          </a:solidFill>
          <a:ln w="9525">
            <a:solidFill>
              <a:srgbClr val="C94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34924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落点策略</a:t>
            </a:r>
          </a:p>
          <a:p>
            <a:pPr algn="l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缩小寄样量、提高达人质量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14455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>
              <a:gd name="adj" fmla="val 0"/>
            </a:avLst>
          </a:prstGeom>
          <a:solidFill>
            <a:srgbClr val="C94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2608" y="182880"/>
            <a:ext cx="86410" cy="63367"/>
          </a:xfrm>
          <a:prstGeom prst="ellipse">
            <a:avLst/>
          </a:prstGeom>
          <a:solidFill>
            <a:srgbClr val="FC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55975" y="182880"/>
            <a:ext cx="86410" cy="63367"/>
          </a:xfrm>
          <a:prstGeom prst="ellipse">
            <a:avLst/>
          </a:prstGeom>
          <a:solidFill>
            <a:srgbClr val="FC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55975" y="191521"/>
            <a:ext cx="37444" cy="46085"/>
          </a:xfrm>
          <a:prstGeom prst="ellipse">
            <a:avLst/>
          </a:prstGeom>
          <a:solidFill>
            <a:srgbClr val="F5A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73152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SKU 2757 测款分析</a:t>
            </a:r>
          </a:p>
          <a:p>
            <a:r>
              <a:rPr sz="1100" b="0" i="0">
                <a:solidFill>
                  <a:srgbClr val="FCEAF1"/>
                </a:solidFill>
                <a:latin typeface="Microsoft YaHei"/>
                <a:ea typeface="Microsoft YaHei"/>
                <a:cs typeface="Microsoft YaHei"/>
              </a:rPr>
              <a:t>秋季 Lace Skort：潜力可追，到货后加推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51560"/>
            <a:ext cx="21031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5A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0972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寄样量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37160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051560"/>
            <a:ext cx="21031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5A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10972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履约率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37160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82.9%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051560"/>
            <a:ext cx="21031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5A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66360" y="10972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达人出单率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137160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22.9%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1051560"/>
            <a:ext cx="21031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5A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06640" y="10972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视频出单率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137160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25.6%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0" y="1051560"/>
            <a:ext cx="21031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5A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6920" y="1097280"/>
            <a:ext cx="20116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月度订单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137160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2057400"/>
            <a:ext cx="4572000" cy="3017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5A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194560"/>
            <a:ext cx="42976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关键发现</a:t>
            </a:r>
          </a:p>
          <a:p>
            <a:pPr algn="l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· 8月测款 35 寄样，履约率 82.9%，达人出单率 22.86%，视频出单率 25.64%；</a:t>
            </a:r>
          </a:p>
          <a:p>
            <a:pPr algn="l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· 与 2722 爆款同期转化率接近，具备承接秋季流量的潜力；</a:t>
            </a:r>
          </a:p>
          <a:p>
            <a:pPr algn="l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· 自然单占比 40.5%，流量结构仍需短视频素材进一步验证；</a:t>
            </a:r>
          </a:p>
          <a:p>
            <a:pPr algn="l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· 新达人 19 人，老达人经验不足，到货后应优先用已出单老达人测款。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5486400" y="2057400"/>
          <a:ext cx="274320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8503920" y="2057400"/>
          <a:ext cx="3108960" cy="1371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8503920" y="3657600"/>
          <a:ext cx="3108960" cy="14173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640080" y="5257800"/>
            <a:ext cx="10972800" cy="1005840"/>
          </a:xfrm>
          <a:prstGeom prst="roundRect">
            <a:avLst>
              <a:gd name="adj" fmla="val 12000"/>
            </a:avLst>
          </a:prstGeom>
          <a:solidFill>
            <a:srgbClr val="FCEAF1"/>
          </a:solidFill>
          <a:ln w="9525">
            <a:solidFill>
              <a:srgbClr val="C94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34924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落点策略</a:t>
            </a:r>
          </a:p>
          <a:p>
            <a:pPr algn="l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到货后继续寄样，优先邀请 2722/28173 已出单老达人带货，验证秋季 Lace Skort 潜力。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14455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>
              <a:gd name="adj" fmla="val 0"/>
            </a:avLst>
          </a:prstGeom>
          <a:solidFill>
            <a:srgbClr val="C94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2608" y="182880"/>
            <a:ext cx="86410" cy="63367"/>
          </a:xfrm>
          <a:prstGeom prst="ellipse">
            <a:avLst/>
          </a:prstGeom>
          <a:solidFill>
            <a:srgbClr val="FC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55975" y="182880"/>
            <a:ext cx="86410" cy="63367"/>
          </a:xfrm>
          <a:prstGeom prst="ellipse">
            <a:avLst/>
          </a:prstGeom>
          <a:solidFill>
            <a:srgbClr val="FC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55975" y="191521"/>
            <a:ext cx="37444" cy="46085"/>
          </a:xfrm>
          <a:prstGeom prst="ellipse">
            <a:avLst/>
          </a:prstGeom>
          <a:solidFill>
            <a:srgbClr val="F5A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73152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达人维度洞察</a:t>
            </a:r>
          </a:p>
          <a:p>
            <a:r>
              <a:rPr sz="1100" b="0" i="0">
                <a:solidFill>
                  <a:srgbClr val="FCEAF1"/>
                </a:solidFill>
                <a:latin typeface="Microsoft YaHei"/>
                <a:ea typeface="Microsoft YaHei"/>
                <a:cs typeface="Microsoft YaHei"/>
              </a:rPr>
              <a:t>效率榜 + 矩阵 + 复投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9144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FCEAF1"/>
                </a:solidFill>
                <a:latin typeface="Microsoft YaHei"/>
                <a:ea typeface="Microsoft YaHei"/>
                <a:cs typeface="Microsoft YaHei"/>
              </a:rPr>
              <a:t>Part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0" b="1" i="0">
                <a:solidFill>
                  <a:srgbClr val="F5A0B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达人维度洞察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14455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>
              <a:gd name="adj" fmla="val 0"/>
            </a:avLst>
          </a:prstGeom>
          <a:solidFill>
            <a:srgbClr val="C94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2608" y="182880"/>
            <a:ext cx="86410" cy="63367"/>
          </a:xfrm>
          <a:prstGeom prst="ellipse">
            <a:avLst/>
          </a:prstGeom>
          <a:solidFill>
            <a:srgbClr val="FC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55975" y="182880"/>
            <a:ext cx="86410" cy="63367"/>
          </a:xfrm>
          <a:prstGeom prst="ellipse">
            <a:avLst/>
          </a:prstGeom>
          <a:solidFill>
            <a:srgbClr val="FC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55975" y="191521"/>
            <a:ext cx="37444" cy="46085"/>
          </a:xfrm>
          <a:prstGeom prst="ellipse">
            <a:avLst/>
          </a:prstGeom>
          <a:solidFill>
            <a:srgbClr val="F5A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73152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全 SKU 达人效率榜</a:t>
            </a:r>
          </a:p>
          <a:p>
            <a:r>
              <a:rPr sz="1100" b="0" i="0">
                <a:solidFill>
                  <a:srgbClr val="FCEAF1"/>
                </a:solidFill>
                <a:latin typeface="Microsoft YaHei"/>
                <a:ea typeface="Microsoft YaHei"/>
                <a:cs typeface="Microsoft YaHei"/>
              </a:rPr>
              <a:t>Z-score 综合评分 = 出单率Z + 单达人产出Z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097280"/>
          <a:ext cx="73152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731520"/>
                <a:gridCol w="1005840"/>
                <a:gridCol w="1097280"/>
                <a:gridCol w="1005840"/>
                <a:gridCol w="1005840"/>
                <a:gridCol w="914400"/>
                <a:gridCol w="1005840"/>
              </a:tblGrid>
              <a:tr h="627017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排名</a:t>
                      </a:r>
                    </a:p>
                  </a:txBody>
                  <a:tcPr anchor="ctr">
                    <a:solidFill>
                      <a:srgbClr val="FCD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SKU</a:t>
                      </a:r>
                    </a:p>
                  </a:txBody>
                  <a:tcPr anchor="ctr">
                    <a:solidFill>
                      <a:srgbClr val="FCD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出单率</a:t>
                      </a:r>
                    </a:p>
                  </a:txBody>
                  <a:tcPr anchor="ctr">
                    <a:solidFill>
                      <a:srgbClr val="FCD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单达人产出</a:t>
                      </a:r>
                    </a:p>
                  </a:txBody>
                  <a:tcPr anchor="ctr">
                    <a:solidFill>
                      <a:srgbClr val="FCD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Z出单率</a:t>
                      </a:r>
                    </a:p>
                  </a:txBody>
                  <a:tcPr anchor="ctr">
                    <a:solidFill>
                      <a:srgbClr val="FCD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Z单产</a:t>
                      </a:r>
                    </a:p>
                  </a:txBody>
                  <a:tcPr anchor="ctr">
                    <a:solidFill>
                      <a:srgbClr val="FCD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综合分</a:t>
                      </a:r>
                    </a:p>
                  </a:txBody>
                  <a:tcPr anchor="ctr">
                    <a:solidFill>
                      <a:srgbClr val="FCD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象限</a:t>
                      </a:r>
                    </a:p>
                  </a:txBody>
                  <a:tcPr anchor="ctr">
                    <a:solidFill>
                      <a:srgbClr val="FCD5E3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-0.31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现金牛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2190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5.5%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592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-1.45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1.88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0.43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机会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28173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0.99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-0.80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现金牛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2189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21.1%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85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0.34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-0.56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-0.22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现金牛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2789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-0.94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-0.51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现金牛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701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2178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6.9%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354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-1.29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0.73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-0.56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机会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9144000" y="1097280"/>
          <a:ext cx="246888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5623560"/>
            <a:ext cx="10972800" cy="822960"/>
          </a:xfrm>
          <a:prstGeom prst="roundRect">
            <a:avLst>
              <a:gd name="adj" fmla="val 12000"/>
            </a:avLst>
          </a:prstGeom>
          <a:solidFill>
            <a:srgbClr val="FCEAF1"/>
          </a:solidFill>
          <a:ln w="9525">
            <a:solidFill>
              <a:srgbClr val="C94F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715000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落点</a:t>
            </a:r>
          </a:p>
          <a:p>
            <a:pPr algn="l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效率最高的是 SKU 2722、2190，说明这两款“更容易被卖起来”；预算和精准寄样应优先向头部效率 SKU 倾斜，尾部 SKU 谨慎放量。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14455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>
              <a:gd name="adj" fmla="val 0"/>
            </a:avLst>
          </a:prstGeom>
          <a:solidFill>
            <a:srgbClr val="C94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2608" y="182880"/>
            <a:ext cx="86410" cy="63367"/>
          </a:xfrm>
          <a:prstGeom prst="ellipse">
            <a:avLst/>
          </a:prstGeom>
          <a:solidFill>
            <a:srgbClr val="FC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55975" y="182880"/>
            <a:ext cx="86410" cy="63367"/>
          </a:xfrm>
          <a:prstGeom prst="ellipse">
            <a:avLst/>
          </a:prstGeom>
          <a:solidFill>
            <a:srgbClr val="FC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55975" y="191521"/>
            <a:ext cx="37444" cy="46085"/>
          </a:xfrm>
          <a:prstGeom prst="ellipse">
            <a:avLst/>
          </a:prstGeom>
          <a:solidFill>
            <a:srgbClr val="F5A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73152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SKU 接力 &amp; 机会矩阵</a:t>
            </a:r>
          </a:p>
          <a:p>
            <a:r>
              <a:rPr sz="1100" b="0" i="0">
                <a:solidFill>
                  <a:srgbClr val="FCEAF1"/>
                </a:solidFill>
                <a:latin typeface="Microsoft YaHei"/>
                <a:ea typeface="Microsoft YaHei"/>
                <a:cs typeface="Microsoft YaHei"/>
              </a:rPr>
              <a:t>销售贡献 vs 综合效率增长潜力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97280"/>
            <a:ext cx="5486400" cy="5120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5A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716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4CAF50"/>
                </a:solidFill>
                <a:latin typeface="Microsoft YaHei"/>
                <a:ea typeface="Microsoft YaHei"/>
                <a:cs typeface="Microsoft YaHei"/>
              </a:rPr>
              <a:t>明星：高销售+高效率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3716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7C9CD8"/>
                </a:solidFill>
                <a:latin typeface="Microsoft YaHei"/>
                <a:ea typeface="Microsoft YaHei"/>
                <a:cs typeface="Microsoft YaHei"/>
              </a:rPr>
              <a:t>现金牛：高销售+低效率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29B4C"/>
                </a:solidFill>
                <a:latin typeface="Microsoft YaHei"/>
                <a:ea typeface="Microsoft YaHei"/>
                <a:cs typeface="Microsoft YaHei"/>
              </a:rPr>
              <a:t>机会：低销售+高效率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5029200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E54C4C"/>
                </a:solidFill>
                <a:latin typeface="Microsoft YaHei"/>
                <a:ea typeface="Microsoft YaHei"/>
                <a:cs typeface="Microsoft YaHei"/>
              </a:rPr>
              <a:t>瘦狗：低销售+低效率</a:t>
            </a:r>
          </a:p>
        </p:txBody>
      </p:sp>
      <p:sp>
        <p:nvSpPr>
          <p:cNvPr id="12" name="Oval 11"/>
          <p:cNvSpPr/>
          <p:nvPr/>
        </p:nvSpPr>
        <p:spPr>
          <a:xfrm>
            <a:off x="1721818" y="2958436"/>
            <a:ext cx="501478" cy="501478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72557" y="3209175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2178</a:t>
            </a:r>
          </a:p>
        </p:txBody>
      </p:sp>
      <p:sp>
        <p:nvSpPr>
          <p:cNvPr id="14" name="Oval 13"/>
          <p:cNvSpPr/>
          <p:nvPr/>
        </p:nvSpPr>
        <p:spPr>
          <a:xfrm>
            <a:off x="1727127" y="2049792"/>
            <a:ext cx="502920" cy="50292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78587" y="230125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2190</a:t>
            </a:r>
          </a:p>
        </p:txBody>
      </p:sp>
      <p:sp>
        <p:nvSpPr>
          <p:cNvPr id="16" name="Oval 15"/>
          <p:cNvSpPr/>
          <p:nvPr/>
        </p:nvSpPr>
        <p:spPr>
          <a:xfrm>
            <a:off x="1636882" y="1589593"/>
            <a:ext cx="478412" cy="478412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76088" y="1828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2722</a:t>
            </a:r>
          </a:p>
        </p:txBody>
      </p:sp>
      <p:sp>
        <p:nvSpPr>
          <p:cNvPr id="18" name="Oval 17"/>
          <p:cNvSpPr/>
          <p:nvPr/>
        </p:nvSpPr>
        <p:spPr>
          <a:xfrm>
            <a:off x="1000526" y="3767910"/>
            <a:ext cx="305598" cy="305598"/>
          </a:xfrm>
          <a:prstGeom prst="ellipse">
            <a:avLst/>
          </a:prstGeom>
          <a:solidFill>
            <a:srgbClr val="E5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53325" y="3920709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2189</a:t>
            </a:r>
          </a:p>
        </p:txBody>
      </p:sp>
      <p:sp>
        <p:nvSpPr>
          <p:cNvPr id="20" name="Oval 19"/>
          <p:cNvSpPr/>
          <p:nvPr/>
        </p:nvSpPr>
        <p:spPr>
          <a:xfrm>
            <a:off x="1060246" y="4770760"/>
            <a:ext cx="321816" cy="321816"/>
          </a:xfrm>
          <a:prstGeom prst="ellipse">
            <a:avLst/>
          </a:prstGeom>
          <a:solidFill>
            <a:srgbClr val="E5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21154" y="493166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28173</a:t>
            </a:r>
          </a:p>
        </p:txBody>
      </p:sp>
      <p:sp>
        <p:nvSpPr>
          <p:cNvPr id="22" name="Oval 21"/>
          <p:cNvSpPr/>
          <p:nvPr/>
        </p:nvSpPr>
        <p:spPr>
          <a:xfrm>
            <a:off x="573191" y="5718265"/>
            <a:ext cx="189547" cy="189547"/>
          </a:xfrm>
          <a:prstGeom prst="ellipse">
            <a:avLst/>
          </a:prstGeom>
          <a:solidFill>
            <a:srgbClr val="E5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965" y="581303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2789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097280"/>
            <a:ext cx="5212080" cy="5120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5A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1234440"/>
            <a:ext cx="49377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矩阵解读</a:t>
            </a:r>
          </a:p>
          <a:p>
            <a:pPr algn="l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· 明星：2722、28173 销售贡献高且达人效率向上，是秋季主推基本盘；</a:t>
            </a:r>
          </a:p>
          <a:p>
            <a:pPr algn="l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· 现金牛：2178/2190 订单体量大但效率大幅下滑，需要“保量提质”，不能继续放量稀释；</a:t>
            </a:r>
          </a:p>
          <a:p>
            <a:pPr algn="l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· 机会：2189 达人效率仍高但销售占比小，扩大精准寄样可成新增长极；</a:t>
            </a:r>
          </a:p>
          <a:p>
            <a:pPr algn="l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· 瘦狗：2789 销售贡献低且效率一般，减少投入、清库存为主。</a:t>
            </a:r>
          </a:p>
          <a:p>
            <a:pPr algn="l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/>
            <a:r>
              <a:rPr sz="12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落点</a:t>
            </a:r>
          </a:p>
          <a:p>
            <a:pPr algn="l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新品 2757 到货后，用 2722/28173 已验证达人承接流量；2189 扩大精准测款；2789 控制寄样。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14455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>
              <a:gd name="adj" fmla="val 0"/>
            </a:avLst>
          </a:prstGeom>
          <a:solidFill>
            <a:srgbClr val="C94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2608" y="182880"/>
            <a:ext cx="86410" cy="63367"/>
          </a:xfrm>
          <a:prstGeom prst="ellipse">
            <a:avLst/>
          </a:prstGeom>
          <a:solidFill>
            <a:srgbClr val="FC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55975" y="182880"/>
            <a:ext cx="86410" cy="63367"/>
          </a:xfrm>
          <a:prstGeom prst="ellipse">
            <a:avLst/>
          </a:prstGeom>
          <a:solidFill>
            <a:srgbClr val="FC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55975" y="191521"/>
            <a:ext cx="37444" cy="46085"/>
          </a:xfrm>
          <a:prstGeom prst="ellipse">
            <a:avLst/>
          </a:prstGeom>
          <a:solidFill>
            <a:srgbClr val="F5A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73152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复投分析 · 两种口径</a:t>
            </a:r>
          </a:p>
          <a:p>
            <a:r>
              <a:rPr sz="1100" b="0" i="0">
                <a:solidFill>
                  <a:srgbClr val="FCEAF1"/>
                </a:solidFill>
                <a:latin typeface="Microsoft YaHei"/>
                <a:ea typeface="Microsoft YaHei"/>
                <a:cs typeface="Microsoft YaHei"/>
              </a:rPr>
              <a:t>按 SKU 拆分，声明后成功时间不限于报告期内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097280"/>
          <a:ext cx="5943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97280"/>
                <a:gridCol w="822960"/>
                <a:gridCol w="1005840"/>
                <a:gridCol w="1005840"/>
                <a:gridCol w="1097280"/>
              </a:tblGrid>
              <a:tr h="470262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SKU</a:t>
                      </a:r>
                    </a:p>
                  </a:txBody>
                  <a:tcPr anchor="ctr">
                    <a:solidFill>
                      <a:srgbClr val="FCD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复投声明</a:t>
                      </a:r>
                    </a:p>
                  </a:txBody>
                  <a:tcPr anchor="ctr">
                    <a:solidFill>
                      <a:srgbClr val="FCD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</a:t>
                      </a:r>
                    </a:p>
                  </a:txBody>
                  <a:tcPr anchor="ctr">
                    <a:solidFill>
                      <a:srgbClr val="FCD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未成功</a:t>
                      </a:r>
                    </a:p>
                  </a:txBody>
                  <a:tcPr anchor="ctr">
                    <a:solidFill>
                      <a:srgbClr val="FCD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观察中</a:t>
                      </a:r>
                    </a:p>
                  </a:txBody>
                  <a:tcPr anchor="ctr">
                    <a:solidFill>
                      <a:srgbClr val="FCD5E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成功率</a:t>
                      </a:r>
                    </a:p>
                  </a:txBody>
                  <a:tcPr anchor="ctr">
                    <a:solidFill>
                      <a:srgbClr val="FCD5E3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2190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8%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2189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4%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28173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2789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i="0">
                          <a:solidFill>
                            <a:srgbClr val="4A3D4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0%</a:t>
                      </a:r>
                    </a:p>
                  </a:txBody>
                  <a:tcPr anchor="ctr">
                    <a:solidFill>
                      <a:srgbClr val="FCEA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858000" y="1097280"/>
          <a:ext cx="475488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0080" y="4663440"/>
            <a:ext cx="10972800" cy="1737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F5A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754880"/>
            <a:ext cx="106984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同一 SKU 复投（2178+2190 同款复投跟进）</a:t>
            </a:r>
          </a:p>
          <a:p>
            <a:pPr algn="l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· 合计联系 206 人：成功 18 / 失败 19 / 未回复 169；</a:t>
            </a:r>
          </a:p>
          <a:p>
            <a:pPr algn="l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· 流程：后台私信达人 → 跟踪是否申请/是否看消息 → 已读不回则再次发送；爆单达人若后台私信无响应，再用抖音号私信；</a:t>
            </a:r>
          </a:p>
          <a:p>
            <a:pPr algn="l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· 落点：定期维护复投池，加强复投策略并优化话术，对爆单/高潜达人提高跟进频次。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14455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>
              <a:gd name="adj" fmla="val 0"/>
            </a:avLst>
          </a:prstGeom>
          <a:solidFill>
            <a:srgbClr val="C94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2608" y="182880"/>
            <a:ext cx="86410" cy="63367"/>
          </a:xfrm>
          <a:prstGeom prst="ellipse">
            <a:avLst/>
          </a:prstGeom>
          <a:solidFill>
            <a:srgbClr val="FC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55975" y="182880"/>
            <a:ext cx="86410" cy="63367"/>
          </a:xfrm>
          <a:prstGeom prst="ellipse">
            <a:avLst/>
          </a:prstGeom>
          <a:solidFill>
            <a:srgbClr val="FC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55975" y="191521"/>
            <a:ext cx="37444" cy="46085"/>
          </a:xfrm>
          <a:prstGeom prst="ellipse">
            <a:avLst/>
          </a:prstGeom>
          <a:solidFill>
            <a:srgbClr val="F5A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73152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下月行动</a:t>
            </a:r>
          </a:p>
          <a:p>
            <a:r>
              <a:rPr sz="1100" b="0" i="0">
                <a:solidFill>
                  <a:srgbClr val="FCEAF1"/>
                </a:solidFill>
                <a:latin typeface="Microsoft YaHei"/>
                <a:ea typeface="Microsoft YaHei"/>
                <a:cs typeface="Microsoft YaHei"/>
              </a:rPr>
              <a:t>提质减量 + 新品承接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9144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FCEAF1"/>
                </a:solidFill>
                <a:latin typeface="Microsoft YaHei"/>
                <a:ea typeface="Microsoft YaHei"/>
                <a:cs typeface="Microsoft YaHei"/>
              </a:rPr>
              <a:t>Part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0" b="1" i="0">
                <a:solidFill>
                  <a:srgbClr val="F5A0B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下月行动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14455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0"/>
          </a:xfrm>
          <a:prstGeom prst="roundRect">
            <a:avLst>
              <a:gd name="adj" fmla="val 0"/>
            </a:avLst>
          </a:prstGeom>
          <a:solidFill>
            <a:srgbClr val="C94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2608" y="182880"/>
            <a:ext cx="86410" cy="63367"/>
          </a:xfrm>
          <a:prstGeom prst="ellipse">
            <a:avLst/>
          </a:prstGeom>
          <a:solidFill>
            <a:srgbClr val="FC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55975" y="182880"/>
            <a:ext cx="86410" cy="63367"/>
          </a:xfrm>
          <a:prstGeom prst="ellipse">
            <a:avLst/>
          </a:prstGeom>
          <a:solidFill>
            <a:srgbClr val="FCEA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55975" y="191521"/>
            <a:ext cx="37444" cy="46085"/>
          </a:xfrm>
          <a:prstGeom prst="ellipse">
            <a:avLst/>
          </a:prstGeom>
          <a:solidFill>
            <a:srgbClr val="F5A0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73152"/>
            <a:ext cx="10241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下月行动</a:t>
            </a:r>
          </a:p>
          <a:p>
            <a:r>
              <a:rPr sz="1100" b="0" i="0">
                <a:solidFill>
                  <a:srgbClr val="FCEAF1"/>
                </a:solidFill>
                <a:latin typeface="Microsoft YaHei"/>
                <a:ea typeface="Microsoft YaHei"/>
                <a:cs typeface="Microsoft YaHei"/>
              </a:rPr>
              <a:t>8.16-9.15 重点：提质减量、新品承接、老达人复投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972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5A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097280"/>
            <a:ext cx="548640" cy="658368"/>
          </a:xfrm>
          <a:prstGeom prst="roundRect">
            <a:avLst>
              <a:gd name="adj" fmla="val 2000"/>
            </a:avLst>
          </a:prstGeom>
          <a:solidFill>
            <a:srgbClr val="C94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6187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17043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2178/2190 优寄少寄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170432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暂停放量新达人，优先 L3+/4★+/历史出单老达人，确保寄样→视频→出单闭环。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847088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5A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1847088"/>
            <a:ext cx="548640" cy="658368"/>
          </a:xfrm>
          <a:prstGeom prst="roundRect">
            <a:avLst>
              <a:gd name="adj" fmla="val 2000"/>
            </a:avLst>
          </a:prstGeom>
          <a:solidFill>
            <a:srgbClr val="C94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01168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192024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2722 暂停寄样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1920240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短裙夏季款进入尾声，资源转向秋冬长裤/2757等新季节性主推。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596896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5A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2596896"/>
            <a:ext cx="548640" cy="658368"/>
          </a:xfrm>
          <a:prstGeom prst="roundRect">
            <a:avLst>
              <a:gd name="adj" fmla="val 2000"/>
            </a:avLst>
          </a:prstGeom>
          <a:solidFill>
            <a:srgbClr val="C94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761488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670048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28173 保持节奏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2670048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效率持续上升，继续用已验证达人放大，复制 8 月精准寄样模型。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346704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5A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0080" y="3346704"/>
            <a:ext cx="548640" cy="658368"/>
          </a:xfrm>
          <a:prstGeom prst="roundRect">
            <a:avLst>
              <a:gd name="adj" fmla="val 2000"/>
            </a:avLst>
          </a:prstGeom>
          <a:solidFill>
            <a:srgbClr val="C94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511296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3419856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2189 扩大精准测款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419856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老达人兴趣下降，需补充新达人池，同时用复投激活历史带货达人。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096511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5A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" y="4096511"/>
            <a:ext cx="548640" cy="658368"/>
          </a:xfrm>
          <a:prstGeom prst="roundRect">
            <a:avLst>
              <a:gd name="adj" fmla="val 2000"/>
            </a:avLst>
          </a:prstGeom>
          <a:solidFill>
            <a:srgbClr val="C94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4261103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4169663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2789 控量清库存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169663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缩小寄样量，仅保留高星/核心达人，减少低效投入。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484632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5A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40080" y="4846320"/>
            <a:ext cx="548640" cy="658368"/>
          </a:xfrm>
          <a:prstGeom prst="roundRect">
            <a:avLst>
              <a:gd name="adj" fmla="val 2000"/>
            </a:avLst>
          </a:prstGeom>
          <a:solidFill>
            <a:srgbClr val="C94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010912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491947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2757 到货后加推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919472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测款数据与 2722 转化率接近，到货后继续寄样验证。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96128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F5A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40080" y="5596128"/>
            <a:ext cx="548640" cy="658368"/>
          </a:xfrm>
          <a:prstGeom prst="roundRect">
            <a:avLst>
              <a:gd name="adj" fmla="val 2000"/>
            </a:avLst>
          </a:prstGeom>
          <a:solidFill>
            <a:srgbClr val="C94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7607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5880" y="566928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C94F82"/>
                </a:solidFill>
                <a:latin typeface="Microsoft YaHei"/>
                <a:ea typeface="Microsoft YaHei"/>
                <a:cs typeface="Microsoft YaHei"/>
              </a:rPr>
              <a:t>强化复投跟进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5669280"/>
            <a:ext cx="7772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 i="0">
                <a:solidFill>
                  <a:srgbClr val="4A3D42"/>
                </a:solidFill>
                <a:latin typeface="Microsoft YaHei"/>
                <a:ea typeface="Microsoft YaHei"/>
                <a:cs typeface="Microsoft YaHei"/>
              </a:rPr>
              <a:t>统一后台+抖音号双通道触达，建立复投达人跟进 SOP。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14455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7A6A7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